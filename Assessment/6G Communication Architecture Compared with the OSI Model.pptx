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9" r:id="rId4"/>
    <p:sldId id="258" r:id="rId5"/>
    <p:sldId id="257" r:id="rId6"/>
    <p:sldId id="263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756" y="498461"/>
            <a:ext cx="10547558" cy="1646302"/>
          </a:xfrm>
        </p:spPr>
        <p:txBody>
          <a:bodyPr/>
          <a:lstStyle/>
          <a:p>
            <a:r>
              <a:rPr lang="en-US" dirty="0" smtClean="0"/>
              <a:t>6G </a:t>
            </a:r>
            <a:r>
              <a:rPr lang="en-US" dirty="0"/>
              <a:t>Communication Architecture Compared with the OSI Model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                Sivadharshini.K-192524008</a:t>
            </a:r>
          </a:p>
          <a:p>
            <a:r>
              <a:rPr lang="en-IN" dirty="0" smtClean="0"/>
              <a:t>Dharshana.D-192524243</a:t>
            </a:r>
          </a:p>
          <a:p>
            <a:r>
              <a:rPr lang="en-IN" dirty="0" smtClean="0"/>
              <a:t>Sub: Computer Networks</a:t>
            </a:r>
            <a:endParaRPr lang="en-IN" dirty="0"/>
          </a:p>
        </p:txBody>
      </p:sp>
      <p:pic>
        <p:nvPicPr>
          <p:cNvPr id="4100" name="Picture 4" descr="6G - MATLAB &amp; Simulin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64" y="2495072"/>
            <a:ext cx="4712639" cy="4208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3914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424" y="352023"/>
            <a:ext cx="8596668" cy="80707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Introduction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542" y="1259068"/>
            <a:ext cx="6328773" cy="3880773"/>
          </a:xfrm>
        </p:spPr>
        <p:txBody>
          <a:bodyPr/>
          <a:lstStyle/>
          <a:p>
            <a:r>
              <a:rPr lang="en-US" dirty="0" smtClean="0"/>
              <a:t>6G </a:t>
            </a:r>
            <a:r>
              <a:rPr lang="en-US" dirty="0"/>
              <a:t>is the next generation of wireless communication expected around 2030. </a:t>
            </a:r>
          </a:p>
          <a:p>
            <a:r>
              <a:rPr lang="en-US" dirty="0"/>
              <a:t>It aims to provide data rates up to 1 </a:t>
            </a:r>
            <a:r>
              <a:rPr lang="en-US" dirty="0" err="1"/>
              <a:t>Tbps</a:t>
            </a:r>
            <a:r>
              <a:rPr lang="en-US" dirty="0"/>
              <a:t> and extremely low latency. </a:t>
            </a:r>
          </a:p>
          <a:p>
            <a:r>
              <a:rPr lang="en-US" dirty="0"/>
              <a:t>6G integrates Artificial Intelligence (AI), Edge Computing, and Terahertz communication. </a:t>
            </a:r>
          </a:p>
          <a:p>
            <a:r>
              <a:rPr lang="en-US" dirty="0"/>
              <a:t>The OSI model provides a framework for understanding network communication processes. </a:t>
            </a:r>
          </a:p>
        </p:txBody>
      </p:sp>
      <p:pic>
        <p:nvPicPr>
          <p:cNvPr id="2052" name="Picture 4" descr="Semantic diagram of 6G technology. Source [6] | Download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436" y="1259068"/>
            <a:ext cx="3695208" cy="3184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9050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843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OSI Model Overview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241" y="1581039"/>
            <a:ext cx="8596668" cy="3880773"/>
          </a:xfrm>
        </p:spPr>
        <p:txBody>
          <a:bodyPr>
            <a:normAutofit/>
          </a:bodyPr>
          <a:lstStyle/>
          <a:p>
            <a:r>
              <a:rPr lang="en-US" b="1" dirty="0" smtClean="0"/>
              <a:t>The </a:t>
            </a:r>
            <a:r>
              <a:rPr lang="en-US" b="1" dirty="0"/>
              <a:t>OSI model consists of seven layers:</a:t>
            </a:r>
            <a:endParaRPr lang="en-US" dirty="0"/>
          </a:p>
          <a:p>
            <a:r>
              <a:rPr lang="en-US" dirty="0"/>
              <a:t>Physical Layer – Transmission of bits. </a:t>
            </a:r>
          </a:p>
          <a:p>
            <a:r>
              <a:rPr lang="en-US" dirty="0"/>
              <a:t>Data Link Layer – Error detection and medium access control. </a:t>
            </a:r>
          </a:p>
          <a:p>
            <a:r>
              <a:rPr lang="en-US" dirty="0"/>
              <a:t>Network Layer – Routing and logical addressing. </a:t>
            </a:r>
          </a:p>
          <a:p>
            <a:r>
              <a:rPr lang="en-US" dirty="0"/>
              <a:t>Transport Layer – Reliable end-to-end communication. </a:t>
            </a:r>
          </a:p>
          <a:p>
            <a:r>
              <a:rPr lang="en-US" dirty="0"/>
              <a:t>Session Layer – Establishes and manages sessions. </a:t>
            </a:r>
          </a:p>
          <a:p>
            <a:r>
              <a:rPr lang="en-US" dirty="0"/>
              <a:t>Presentation Layer – Data formatting and encryption. </a:t>
            </a:r>
          </a:p>
          <a:p>
            <a:r>
              <a:rPr lang="en-US" dirty="0"/>
              <a:t>Application Layer – Provides services to users. </a:t>
            </a:r>
          </a:p>
          <a:p>
            <a:r>
              <a:rPr lang="en-US" b="1" dirty="0"/>
              <a:t>Purpose:</a:t>
            </a:r>
            <a:r>
              <a:rPr lang="en-US" dirty="0"/>
              <a:t> Standardizes communication between different network systems.</a:t>
            </a:r>
          </a:p>
        </p:txBody>
      </p:sp>
    </p:spTree>
    <p:extLst>
      <p:ext uri="{BB962C8B-B14F-4D97-AF65-F5344CB8AC3E}">
        <p14:creationId xmlns:p14="http://schemas.microsoft.com/office/powerpoint/2010/main" val="73058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78287"/>
          </a:xfrm>
        </p:spPr>
        <p:txBody>
          <a:bodyPr>
            <a:normAutofit/>
          </a:bodyPr>
          <a:lstStyle/>
          <a:p>
            <a:r>
              <a:rPr lang="en-IN" b="1" dirty="0" smtClean="0"/>
              <a:t>6G </a:t>
            </a:r>
            <a:r>
              <a:rPr lang="en-IN" b="1" dirty="0"/>
              <a:t>Communication </a:t>
            </a:r>
            <a:r>
              <a:rPr lang="en-IN" b="1" dirty="0" smtClean="0"/>
              <a:t>Architecture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908" y="1632555"/>
            <a:ext cx="8596668" cy="3880773"/>
          </a:xfrm>
        </p:spPr>
        <p:txBody>
          <a:bodyPr/>
          <a:lstStyle/>
          <a:p>
            <a:r>
              <a:rPr lang="en-IN" b="1" dirty="0" smtClean="0"/>
              <a:t>Major </a:t>
            </a:r>
            <a:r>
              <a:rPr lang="en-IN" b="1" dirty="0"/>
              <a:t>Components of 6G:</a:t>
            </a:r>
            <a:endParaRPr lang="en-IN" dirty="0"/>
          </a:p>
          <a:p>
            <a:r>
              <a:rPr lang="en-IN" dirty="0"/>
              <a:t>User Equipment (Smartphones, </a:t>
            </a:r>
            <a:r>
              <a:rPr lang="en-IN" dirty="0" err="1"/>
              <a:t>IoT</a:t>
            </a:r>
            <a:r>
              <a:rPr lang="en-IN" dirty="0"/>
              <a:t> devices, Sensors) </a:t>
            </a:r>
          </a:p>
          <a:p>
            <a:r>
              <a:rPr lang="en-IN" dirty="0"/>
              <a:t>Radio Access Network (RAN) </a:t>
            </a:r>
          </a:p>
          <a:p>
            <a:r>
              <a:rPr lang="en-IN" dirty="0"/>
              <a:t>AI-Native Network Controller </a:t>
            </a:r>
          </a:p>
          <a:p>
            <a:r>
              <a:rPr lang="en-IN" dirty="0"/>
              <a:t>Core Network </a:t>
            </a:r>
          </a:p>
          <a:p>
            <a:r>
              <a:rPr lang="en-IN" dirty="0"/>
              <a:t>Edge and Cloud Computing </a:t>
            </a:r>
          </a:p>
          <a:p>
            <a:r>
              <a:rPr lang="en-IN" dirty="0"/>
              <a:t>Application and Service Layer </a:t>
            </a:r>
          </a:p>
          <a:p>
            <a:r>
              <a:rPr lang="en-IN" b="1" dirty="0"/>
              <a:t>Objective:</a:t>
            </a:r>
            <a:r>
              <a:rPr lang="en-IN" dirty="0"/>
              <a:t> Intelligent, autonomous, and ultra-fast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402280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Advantages of 6G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816" y="1581040"/>
            <a:ext cx="8596668" cy="3880773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Extremely high data rates </a:t>
            </a:r>
          </a:p>
          <a:p>
            <a:r>
              <a:rPr lang="en-US" dirty="0"/>
              <a:t>Better spectrum utilization </a:t>
            </a:r>
          </a:p>
          <a:p>
            <a:r>
              <a:rPr lang="en-US" dirty="0"/>
              <a:t>Intelligent resource management </a:t>
            </a:r>
          </a:p>
          <a:p>
            <a:r>
              <a:rPr lang="en-US" dirty="0"/>
              <a:t>Support for holographic communication </a:t>
            </a:r>
          </a:p>
          <a:p>
            <a:r>
              <a:rPr lang="en-US" dirty="0"/>
              <a:t>Improved user experience</a:t>
            </a:r>
          </a:p>
        </p:txBody>
      </p:sp>
      <p:pic>
        <p:nvPicPr>
          <p:cNvPr id="3074" name="Picture 2" descr="The SOLIDS 6G Mobile Network Architecture: Driving Forces, Features, and  Functional Topology - ScienceDirec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668" y="1373077"/>
            <a:ext cx="6010275" cy="305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4581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421" y="467933"/>
            <a:ext cx="8596668" cy="97450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Key Features of 6G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210" y="1684071"/>
            <a:ext cx="8596668" cy="3880773"/>
          </a:xfrm>
        </p:spPr>
        <p:txBody>
          <a:bodyPr/>
          <a:lstStyle/>
          <a:p>
            <a:r>
              <a:rPr lang="en-US" dirty="0" smtClean="0"/>
              <a:t>AI-Native </a:t>
            </a:r>
            <a:r>
              <a:rPr lang="en-US" dirty="0"/>
              <a:t>Network Architecture </a:t>
            </a:r>
          </a:p>
          <a:p>
            <a:r>
              <a:rPr lang="en-US" dirty="0"/>
              <a:t>Data rates up to 1 </a:t>
            </a:r>
            <a:r>
              <a:rPr lang="en-US" dirty="0" err="1"/>
              <a:t>Tbps</a:t>
            </a:r>
            <a:r>
              <a:rPr lang="en-US" dirty="0"/>
              <a:t> </a:t>
            </a:r>
          </a:p>
          <a:p>
            <a:r>
              <a:rPr lang="en-US" dirty="0"/>
              <a:t>Latency below 1 </a:t>
            </a:r>
            <a:r>
              <a:rPr lang="en-US" dirty="0" err="1"/>
              <a:t>ms</a:t>
            </a:r>
            <a:r>
              <a:rPr lang="en-US" dirty="0"/>
              <a:t> </a:t>
            </a:r>
          </a:p>
          <a:p>
            <a:r>
              <a:rPr lang="en-US" dirty="0"/>
              <a:t>Massive machine-type communication </a:t>
            </a:r>
          </a:p>
          <a:p>
            <a:r>
              <a:rPr lang="en-US" dirty="0"/>
              <a:t>Edge intelligence and cloud integration </a:t>
            </a:r>
          </a:p>
          <a:p>
            <a:r>
              <a:rPr lang="en-US" dirty="0"/>
              <a:t>Enhanced security and privacy </a:t>
            </a:r>
          </a:p>
          <a:p>
            <a:r>
              <a:rPr lang="en-US" dirty="0"/>
              <a:t>Support for digital twins and immersive applications </a:t>
            </a:r>
          </a:p>
        </p:txBody>
      </p:sp>
    </p:spTree>
    <p:extLst>
      <p:ext uri="{BB962C8B-B14F-4D97-AF65-F5344CB8AC3E}">
        <p14:creationId xmlns:p14="http://schemas.microsoft.com/office/powerpoint/2010/main" val="145388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5525983"/>
              </p:ext>
            </p:extLst>
          </p:nvPr>
        </p:nvGraphicFramePr>
        <p:xfrm>
          <a:off x="528035" y="1558341"/>
          <a:ext cx="8939322" cy="427324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979774"/>
                <a:gridCol w="2979774"/>
                <a:gridCol w="2979774"/>
              </a:tblGrid>
              <a:tr h="461972">
                <a:tc>
                  <a:txBody>
                    <a:bodyPr/>
                    <a:lstStyle/>
                    <a:p>
                      <a:r>
                        <a:rPr lang="en-IN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OSI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6G Architecture</a:t>
                      </a:r>
                    </a:p>
                  </a:txBody>
                  <a:tcPr anchor="ctr"/>
                </a:tc>
              </a:tr>
              <a:tr h="808451">
                <a:tc>
                  <a:txBody>
                    <a:bodyPr/>
                    <a:lstStyle/>
                    <a:p>
                      <a:r>
                        <a:rPr lang="en-IN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Reference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Communication Architecture</a:t>
                      </a:r>
                    </a:p>
                  </a:txBody>
                  <a:tcPr anchor="ctr"/>
                </a:tc>
              </a:tr>
              <a:tr h="808451">
                <a:tc>
                  <a:txBody>
                    <a:bodyPr/>
                    <a:lstStyle/>
                    <a:p>
                      <a:r>
                        <a:rPr lang="en-IN"/>
                        <a:t>Layers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7 Layers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Multiple Functional Components</a:t>
                      </a:r>
                    </a:p>
                  </a:txBody>
                  <a:tcPr anchor="ctr"/>
                </a:tc>
              </a:tr>
              <a:tr h="461972">
                <a:tc>
                  <a:txBody>
                    <a:bodyPr/>
                    <a:lstStyle/>
                    <a:p>
                      <a:r>
                        <a:rPr lang="en-IN"/>
                        <a:t>AI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Not 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Built-in AI</a:t>
                      </a:r>
                    </a:p>
                  </a:txBody>
                  <a:tcPr anchor="ctr"/>
                </a:tc>
              </a:tr>
              <a:tr h="461972">
                <a:tc>
                  <a:txBody>
                    <a:bodyPr/>
                    <a:lstStyle/>
                    <a:p>
                      <a:r>
                        <a:rPr lang="en-IN"/>
                        <a:t>Communication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General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Wireless Networks</a:t>
                      </a:r>
                    </a:p>
                  </a:txBody>
                  <a:tcPr anchor="ctr"/>
                </a:tc>
              </a:tr>
              <a:tr h="461972">
                <a:tc>
                  <a:txBody>
                    <a:bodyPr/>
                    <a:lstStyle/>
                    <a:p>
                      <a:r>
                        <a:rPr lang="en-IN"/>
                        <a:t>Flexibility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Fixed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Dynamic and Adaptive</a:t>
                      </a:r>
                    </a:p>
                  </a:txBody>
                  <a:tcPr anchor="ctr"/>
                </a:tc>
              </a:tr>
              <a:tr h="808451">
                <a:tc>
                  <a:txBody>
                    <a:bodyPr/>
                    <a:lstStyle/>
                    <a:p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Standardization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High-speed Intelligent Communication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39452" y="396211"/>
            <a:ext cx="825097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Comparison Between 6G and OSI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766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3283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Conclusion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210" y="1442434"/>
            <a:ext cx="8596668" cy="3880773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The OSI model provides a layered approach to communication. </a:t>
            </a:r>
          </a:p>
          <a:p>
            <a:r>
              <a:rPr lang="en-US" dirty="0"/>
              <a:t>6G architecture performs the functions of OSI layers while introducing AI and intelligent networking. </a:t>
            </a:r>
          </a:p>
          <a:p>
            <a:r>
              <a:rPr lang="en-US" dirty="0"/>
              <a:t>Technologies such as THz communication, network slicing, and edge computing make 6G more advanced than previous generations. </a:t>
            </a:r>
          </a:p>
          <a:p>
            <a:r>
              <a:rPr lang="en-US" dirty="0"/>
              <a:t>6G is expected to revolutionize future communication systems and smart applications. </a:t>
            </a:r>
          </a:p>
          <a:p>
            <a:r>
              <a:rPr lang="en-US" b="1" dirty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18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8856" y="1967406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9600" dirty="0" smtClean="0">
                <a:solidFill>
                  <a:schemeClr val="accent1"/>
                </a:solidFill>
              </a:rPr>
              <a:t>THANK YOU</a:t>
            </a:r>
            <a:endParaRPr lang="en-IN" sz="9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029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37</TotalTime>
  <Words>355</Words>
  <Application>Microsoft Office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Trebuchet MS</vt:lpstr>
      <vt:lpstr>Wingdings 3</vt:lpstr>
      <vt:lpstr>Facet</vt:lpstr>
      <vt:lpstr>6G Communication Architecture Compared with the OSI Model</vt:lpstr>
      <vt:lpstr>Introduction </vt:lpstr>
      <vt:lpstr>OSI Model Overview </vt:lpstr>
      <vt:lpstr>6G Communication Architecture</vt:lpstr>
      <vt:lpstr>Advantages of 6G </vt:lpstr>
      <vt:lpstr>Key Features of 6G </vt:lpstr>
      <vt:lpstr>Comparison Between 6G and OSI Model 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“6G Communication Architecture Compared with the OSI Model</dc:title>
  <dc:creator>WELLCOME</dc:creator>
  <cp:lastModifiedBy>WELLCOME</cp:lastModifiedBy>
  <cp:revision>4</cp:revision>
  <dcterms:created xsi:type="dcterms:W3CDTF">2026-07-15T05:01:14Z</dcterms:created>
  <dcterms:modified xsi:type="dcterms:W3CDTF">2026-07-15T05:38:25Z</dcterms:modified>
</cp:coreProperties>
</file>